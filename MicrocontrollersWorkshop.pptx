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  <p:sldMasterId id="21474837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Arimo"/>
      <p:regular r:id="rId21"/>
      <p:bold r:id="rId22"/>
      <p:italic r:id="rId23"/>
      <p:boldItalic r:id="rId24"/>
    </p:embeddedFont>
    <p:embeddedFont>
      <p:font typeface="Arimo SemiBold"/>
      <p:regular r:id="rId25"/>
      <p:bold r:id="rId26"/>
      <p:italic r:id="rId27"/>
      <p:boldItalic r:id="rId28"/>
    </p:embeddedFont>
    <p:embeddedFont>
      <p:font typeface="Arimo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imoSemiBold-bold.fntdata"/><Relationship Id="rId25" Type="http://schemas.openxmlformats.org/officeDocument/2006/relationships/font" Target="fonts/ArimoSemiBold-regular.fntdata"/><Relationship Id="rId28" Type="http://schemas.openxmlformats.org/officeDocument/2006/relationships/font" Target="fonts/ArimoSemiBold-boldItalic.fntdata"/><Relationship Id="rId27" Type="http://schemas.openxmlformats.org/officeDocument/2006/relationships/font" Target="fonts/Arimo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Medium-italic.fntdata"/><Relationship Id="rId30" Type="http://schemas.openxmlformats.org/officeDocument/2006/relationships/font" Target="fonts/Arimo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ArimoMediu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b32ead49c_0_3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bb32ead49c_0_3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b32ead49c_0_3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b32ead49c_0_3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de1b80d8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bde1b80d8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bb32ead49c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bb32ead49c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de1b80d8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de1b80d8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de1b80d8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bde1b80d8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an Arduino sketch and have everyone test that they can upload a simple sketch to the board.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de1b80d8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bde1b80d8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de1b80d8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de1b80d8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bde1b80d8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bde1b80d8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think I will skip this slide/project and the next one will teach buttons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de1b80d8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bde1b80d8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de1b80d8b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bde1b80d8b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 skip this one too if need more time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de1b80d8b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bde1b80d8b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this will take at least 10-15 minutes. They need to get the repo and put together the whole circuit.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 them find the github and download or show how to “git clone”.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let them build the circuit.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an actual picture of the circuit.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in the buzzer and buttons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Buzzer positive to D3 and ground to GND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Buttons across the bridge however you can fit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bottom ground rail for negative to the buttons.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plug in 8 pins from D12-D5. Half are LEDs and other half are buttons.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Thats it!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bde1b80d8b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bde1b80d8b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this will take at least 10-15 minutes. They need to get the repo and put together the whole circuit.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 them find the github and download or show how to “git clone”.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let them build the circuit.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an actual picture of the circuit.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in the buzzer and buttons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Buzzer positive to D3 and ground to GND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Buttons across the bridge however you can fit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bottom ground rail for negative to the buttons.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plug in 8 pins from D12-D5. Half are LEDs and other half are buttons.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Thats it!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b32ead49c_0_3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bb32ead49c_0_3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64" name="Google Shape;64;p1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6" name="Google Shape;66;p1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2" name="Google Shape;82;p1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3" name="Google Shape;83;p1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4" name="Google Shape;84;p1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5" name="Google Shape;85;p1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6" name="Google Shape;86;p1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7" name="Google Shape;87;p1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2" name="Google Shape;102;p1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3" name="Google Shape;103;p1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4" name="Google Shape;104;p1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5" name="Google Shape;105;p1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6" name="Google Shape;106;p1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123" name="Google Shape;123;p1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4" name="Google Shape;124;p1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5" name="Google Shape;125;p1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6" name="Google Shape;126;p1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9" name="Google Shape;149;p2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5" name="Google Shape;155;p2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" name="Google Shape;163;p2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1" name="Google Shape;181;p2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2" name="Google Shape;182;p2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" name="Google Shape;183;p2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2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3" name="Google Shape;193;p2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4" name="Google Shape;194;p2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5" name="Google Shape;195;p2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0" name="Google Shape;200;p2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1" name="Google Shape;201;p2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2" name="Google Shape;202;p2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0" name="Google Shape;220;p2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1" name="Google Shape;221;p2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2" name="Google Shape;222;p2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8" name="Google Shape;228;p3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3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4" name="Google Shape;234;p3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5" name="Google Shape;235;p3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6" name="Google Shape;236;p3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7" name="Google Shape;237;p3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3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3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2" name="Google Shape;242;p3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8" name="Google Shape;258;p3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" name="Google Shape;260;p3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1" name="Google Shape;261;p3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2" name="Google Shape;262;p3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3" name="Google Shape;263;p3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4" name="Google Shape;264;p3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5" name="Google Shape;265;p3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68" name="Google Shape;268;p33"/>
          <p:cNvCxnSpPr>
            <a:stCxn id="266" idx="1"/>
            <a:endCxn id="266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3" name="Google Shape;273;p3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5" name="Google Shape;275;p3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7" name="Google Shape;287;p3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95" name="Google Shape;29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4" name="Google Shape;31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4" name="Google Shape;344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4" name="Google Shape;354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0" name="Google Shape;360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8" name="Google Shape;368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9" name="Google Shape;379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TrentChip38/ArduinoActivities" TargetMode="External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8.png"/><Relationship Id="rId6" Type="http://schemas.openxmlformats.org/officeDocument/2006/relationships/image" Target="../media/image30.jpg"/><Relationship Id="rId7" Type="http://schemas.openxmlformats.org/officeDocument/2006/relationships/image" Target="../media/image3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TrentChip38/ArduinoActivities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For absolute </a:t>
            </a:r>
            <a:r>
              <a:rPr lang="en"/>
              <a:t>beginners</a:t>
            </a:r>
            <a:r>
              <a:rPr lang="en"/>
              <a:t> to learn the basics of Arduino and circuits,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Through a hands on workshop making a few simple projects.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600"/>
              <a:t>Code and resources found in this github: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TrentChip38/ArduinoActivities</a:t>
            </a:r>
            <a:endParaRPr sz="400"/>
          </a:p>
        </p:txBody>
      </p:sp>
      <p:sp>
        <p:nvSpPr>
          <p:cNvPr id="398" name="Google Shape;398;p56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 IEEE Student Branch</a:t>
            </a:r>
            <a:endParaRPr/>
          </a:p>
        </p:txBody>
      </p:sp>
      <p:sp>
        <p:nvSpPr>
          <p:cNvPr id="399" name="Google Shape;399;p56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SPACK 2026</a:t>
            </a:r>
            <a:endParaRPr/>
          </a:p>
        </p:txBody>
      </p:sp>
      <p:sp>
        <p:nvSpPr>
          <p:cNvPr id="400" name="Google Shape;400;p56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2/21/2026</a:t>
            </a:r>
            <a:endParaRPr/>
          </a:p>
        </p:txBody>
      </p:sp>
      <p:sp>
        <p:nvSpPr>
          <p:cNvPr id="401" name="Google Shape;401;p56"/>
          <p:cNvSpPr txBox="1"/>
          <p:nvPr>
            <p:ph type="title"/>
          </p:nvPr>
        </p:nvSpPr>
        <p:spPr>
          <a:xfrm>
            <a:off x="895950" y="1755913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Microcontrollers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With </a:t>
            </a:r>
            <a:r>
              <a:rPr lang="en" sz="2000"/>
              <a:t>Arduino Nano</a:t>
            </a:r>
            <a:endParaRPr sz="2000"/>
          </a:p>
        </p:txBody>
      </p:sp>
      <p:pic>
        <p:nvPicPr>
          <p:cNvPr id="402" name="Google Shape;40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3300" y="1559185"/>
            <a:ext cx="2414550" cy="163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7"/>
          <p:cNvSpPr/>
          <p:nvPr/>
        </p:nvSpPr>
        <p:spPr>
          <a:xfrm>
            <a:off x="4507525" y="1084475"/>
            <a:ext cx="4469700" cy="2175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08" name="Google Shape;408;p57"/>
          <p:cNvSpPr txBox="1"/>
          <p:nvPr>
            <p:ph idx="1" type="subTitle"/>
          </p:nvPr>
        </p:nvSpPr>
        <p:spPr>
          <a:xfrm>
            <a:off x="4651400" y="1270450"/>
            <a:ext cx="3327300" cy="5058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Programmable device</a:t>
            </a:r>
            <a:endParaRPr/>
          </a:p>
        </p:txBody>
      </p:sp>
      <p:sp>
        <p:nvSpPr>
          <p:cNvPr id="409" name="Google Shape;409;p57"/>
          <p:cNvSpPr txBox="1"/>
          <p:nvPr>
            <p:ph idx="3" type="subTitle"/>
          </p:nvPr>
        </p:nvSpPr>
        <p:spPr>
          <a:xfrm>
            <a:off x="4651400" y="1877925"/>
            <a:ext cx="4325700" cy="11760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read input pins, send on output pins, and </a:t>
            </a:r>
            <a:r>
              <a:rPr lang="en"/>
              <a:t>communicate</a:t>
            </a:r>
            <a:r>
              <a:rPr lang="en"/>
              <a:t> with sensors or </a:t>
            </a:r>
            <a:r>
              <a:rPr lang="en"/>
              <a:t>control</a:t>
            </a:r>
            <a:r>
              <a:rPr lang="en"/>
              <a:t> motors</a:t>
            </a:r>
            <a:endParaRPr/>
          </a:p>
        </p:txBody>
      </p:sp>
      <p:sp>
        <p:nvSpPr>
          <p:cNvPr id="410" name="Google Shape;410;p57"/>
          <p:cNvSpPr txBox="1"/>
          <p:nvPr>
            <p:ph type="title"/>
          </p:nvPr>
        </p:nvSpPr>
        <p:spPr>
          <a:xfrm>
            <a:off x="188175" y="120300"/>
            <a:ext cx="7454700" cy="84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Microcontroller?</a:t>
            </a:r>
            <a:endParaRPr/>
          </a:p>
        </p:txBody>
      </p:sp>
      <p:sp>
        <p:nvSpPr>
          <p:cNvPr id="411" name="Google Shape;411;p5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2" name="Google Shape;41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917" y="1270449"/>
            <a:ext cx="3061133" cy="183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8776" y="3474075"/>
            <a:ext cx="1484225" cy="134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5100" y="3383350"/>
            <a:ext cx="2250381" cy="15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0096" y="3383350"/>
            <a:ext cx="1834354" cy="15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256655"/>
            <a:ext cx="2315574" cy="173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57"/>
          <p:cNvPicPr preferRelativeResize="0"/>
          <p:nvPr/>
        </p:nvPicPr>
        <p:blipFill rotWithShape="1">
          <a:blip r:embed="rId8">
            <a:alphaModFix/>
          </a:blip>
          <a:srcRect b="0" l="20743" r="21150" t="0"/>
          <a:stretch/>
        </p:blipFill>
        <p:spPr>
          <a:xfrm>
            <a:off x="71025" y="1250437"/>
            <a:ext cx="1090437" cy="18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"/>
          <p:cNvSpPr txBox="1"/>
          <p:nvPr>
            <p:ph type="title"/>
          </p:nvPr>
        </p:nvSpPr>
        <p:spPr>
          <a:xfrm>
            <a:off x="188175" y="120300"/>
            <a:ext cx="7454700" cy="84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they can do</a:t>
            </a:r>
            <a:endParaRPr/>
          </a:p>
        </p:txBody>
      </p:sp>
      <p:sp>
        <p:nvSpPr>
          <p:cNvPr id="423" name="Google Shape;423;p5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4" name="Google Shape;42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88" y="2437148"/>
            <a:ext cx="3027325" cy="252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863" y="1081475"/>
            <a:ext cx="1594950" cy="159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7850" y="120300"/>
            <a:ext cx="3638525" cy="22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8" title="435f8979-c3e6-4d7e-99c5-a86b43760ff6.jpg"/>
          <p:cNvPicPr preferRelativeResize="0"/>
          <p:nvPr/>
        </p:nvPicPr>
        <p:blipFill rotWithShape="1">
          <a:blip r:embed="rId6">
            <a:alphaModFix/>
          </a:blip>
          <a:srcRect b="42630" l="0" r="0" t="0"/>
          <a:stretch/>
        </p:blipFill>
        <p:spPr>
          <a:xfrm>
            <a:off x="3481507" y="2796700"/>
            <a:ext cx="2880380" cy="220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8" title="18022e07-ecda-4b92-9b72-249d4db6b66a.jpg"/>
          <p:cNvPicPr preferRelativeResize="0"/>
          <p:nvPr/>
        </p:nvPicPr>
        <p:blipFill rotWithShape="1">
          <a:blip r:embed="rId7">
            <a:alphaModFix/>
          </a:blip>
          <a:srcRect b="9461" l="3657" r="25725" t="21776"/>
          <a:stretch/>
        </p:blipFill>
        <p:spPr>
          <a:xfrm>
            <a:off x="6627075" y="2400775"/>
            <a:ext cx="2052876" cy="266549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8"/>
          <p:cNvSpPr txBox="1"/>
          <p:nvPr/>
        </p:nvSpPr>
        <p:spPr>
          <a:xfrm>
            <a:off x="74913" y="1081475"/>
            <a:ext cx="33807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Robotics, electronics, LCDs, motor controllers, sensors, and much more.</a:t>
            </a:r>
            <a:endParaRPr sz="15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will do</a:t>
            </a:r>
            <a:endParaRPr/>
          </a:p>
        </p:txBody>
      </p:sp>
      <p:cxnSp>
        <p:nvCxnSpPr>
          <p:cNvPr descr="A timeline stretching across several years. " id="435" name="Google Shape;435;p59"/>
          <p:cNvCxnSpPr/>
          <p:nvPr/>
        </p:nvCxnSpPr>
        <p:spPr>
          <a:xfrm>
            <a:off x="282300" y="2869750"/>
            <a:ext cx="857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36" name="Google Shape;436;p59"/>
          <p:cNvCxnSpPr>
            <a:stCxn id="437" idx="2"/>
          </p:cNvCxnSpPr>
          <p:nvPr/>
        </p:nvCxnSpPr>
        <p:spPr>
          <a:xfrm flipH="1">
            <a:off x="969901" y="2296250"/>
            <a:ext cx="5100" cy="54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59"/>
          <p:cNvCxnSpPr>
            <a:stCxn id="439" idx="2"/>
          </p:cNvCxnSpPr>
          <p:nvPr/>
        </p:nvCxnSpPr>
        <p:spPr>
          <a:xfrm flipH="1">
            <a:off x="2401050" y="2296250"/>
            <a:ext cx="6000" cy="55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59"/>
          <p:cNvCxnSpPr>
            <a:stCxn id="441" idx="2"/>
          </p:cNvCxnSpPr>
          <p:nvPr/>
        </p:nvCxnSpPr>
        <p:spPr>
          <a:xfrm flipH="1">
            <a:off x="3850051" y="2296250"/>
            <a:ext cx="5700" cy="54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59"/>
          <p:cNvCxnSpPr>
            <a:stCxn id="443" idx="2"/>
            <a:endCxn id="444" idx="0"/>
          </p:cNvCxnSpPr>
          <p:nvPr/>
        </p:nvCxnSpPr>
        <p:spPr>
          <a:xfrm flipH="1">
            <a:off x="5290186" y="2282000"/>
            <a:ext cx="7800" cy="55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59"/>
          <p:cNvCxnSpPr>
            <a:stCxn id="446" idx="2"/>
          </p:cNvCxnSpPr>
          <p:nvPr/>
        </p:nvCxnSpPr>
        <p:spPr>
          <a:xfrm flipH="1">
            <a:off x="6730200" y="2282000"/>
            <a:ext cx="6300" cy="55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59"/>
          <p:cNvSpPr/>
          <p:nvPr/>
        </p:nvSpPr>
        <p:spPr>
          <a:xfrm>
            <a:off x="422101" y="1874750"/>
            <a:ext cx="1105800" cy="42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Test upload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39" name="Google Shape;439;p59"/>
          <p:cNvSpPr/>
          <p:nvPr/>
        </p:nvSpPr>
        <p:spPr>
          <a:xfrm>
            <a:off x="1689900" y="1874750"/>
            <a:ext cx="1434300" cy="42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Output to LED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1" name="Google Shape;441;p59"/>
          <p:cNvSpPr/>
          <p:nvPr/>
        </p:nvSpPr>
        <p:spPr>
          <a:xfrm>
            <a:off x="3381601" y="1874750"/>
            <a:ext cx="948300" cy="42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Read a button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3" name="Google Shape;443;p59"/>
          <p:cNvSpPr/>
          <p:nvPr/>
        </p:nvSpPr>
        <p:spPr>
          <a:xfrm>
            <a:off x="4783186" y="1860500"/>
            <a:ext cx="1029600" cy="42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Buzzer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6" name="Google Shape;446;p59"/>
          <p:cNvSpPr/>
          <p:nvPr/>
        </p:nvSpPr>
        <p:spPr>
          <a:xfrm>
            <a:off x="6183600" y="1860500"/>
            <a:ext cx="1105800" cy="42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Keyboard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7" name="Google Shape;447;p59"/>
          <p:cNvSpPr/>
          <p:nvPr/>
        </p:nvSpPr>
        <p:spPr>
          <a:xfrm>
            <a:off x="9399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8" name="Google Shape;448;p59"/>
          <p:cNvSpPr/>
          <p:nvPr/>
        </p:nvSpPr>
        <p:spPr>
          <a:xfrm>
            <a:off x="23800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9" name="Google Shape;449;p59"/>
          <p:cNvSpPr/>
          <p:nvPr/>
        </p:nvSpPr>
        <p:spPr>
          <a:xfrm>
            <a:off x="38200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4" name="Google Shape;444;p59"/>
          <p:cNvSpPr/>
          <p:nvPr/>
        </p:nvSpPr>
        <p:spPr>
          <a:xfrm>
            <a:off x="52601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0" name="Google Shape;450;p59"/>
          <p:cNvSpPr/>
          <p:nvPr/>
        </p:nvSpPr>
        <p:spPr>
          <a:xfrm>
            <a:off x="67001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1" name="Google Shape;451;p5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52" name="Google Shape;452;p59"/>
          <p:cNvCxnSpPr>
            <a:stCxn id="453" idx="2"/>
          </p:cNvCxnSpPr>
          <p:nvPr/>
        </p:nvCxnSpPr>
        <p:spPr>
          <a:xfrm flipH="1">
            <a:off x="8221472" y="2300513"/>
            <a:ext cx="6300" cy="55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59"/>
          <p:cNvSpPr/>
          <p:nvPr/>
        </p:nvSpPr>
        <p:spPr>
          <a:xfrm>
            <a:off x="7674872" y="1879013"/>
            <a:ext cx="1105800" cy="42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Memory Game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4" name="Google Shape;454;p59"/>
          <p:cNvSpPr/>
          <p:nvPr/>
        </p:nvSpPr>
        <p:spPr>
          <a:xfrm>
            <a:off x="8191471" y="2837448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79D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0"/>
          <p:cNvSpPr txBox="1"/>
          <p:nvPr/>
        </p:nvSpPr>
        <p:spPr>
          <a:xfrm>
            <a:off x="525925" y="715825"/>
            <a:ext cx="4220700" cy="3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Log into the computer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Download Arduino IDE 2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lphaL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Hit windows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lphaL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Search for “Arduino IDE 2”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lphaL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Download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Open and start a new sketch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lphaL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Save as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Plug in a board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Set the com port and type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AutoNum type="alphaLcPeriod"/>
            </a:pPr>
            <a:r>
              <a:rPr b="1"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Type is “Arduino Nano”</a:t>
            </a:r>
            <a:endParaRPr b="1"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1"/>
          <p:cNvSpPr txBox="1"/>
          <p:nvPr>
            <p:ph type="title"/>
          </p:nvPr>
        </p:nvSpPr>
        <p:spPr>
          <a:xfrm>
            <a:off x="188175" y="120300"/>
            <a:ext cx="7454700" cy="84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Test Upload: Blink</a:t>
            </a:r>
            <a:endParaRPr sz="4000"/>
          </a:p>
        </p:txBody>
      </p:sp>
      <p:sp>
        <p:nvSpPr>
          <p:cNvPr id="465" name="Google Shape;465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61"/>
          <p:cNvSpPr txBox="1"/>
          <p:nvPr/>
        </p:nvSpPr>
        <p:spPr>
          <a:xfrm>
            <a:off x="4941175" y="545113"/>
            <a:ext cx="3806100" cy="441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//Global variable to use</a:t>
            </a:r>
            <a:endParaRPr sz="11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mDelay = </a:t>
            </a:r>
            <a:r>
              <a:rPr lang="en" sz="11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//Setup runs once</a:t>
            </a:r>
            <a:endParaRPr sz="11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//Initialize output pin</a:t>
            </a:r>
            <a:endParaRPr sz="11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pinMode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LED_BUILTIN, OUTPUT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//Loop runs over and over</a:t>
            </a:r>
            <a:endParaRPr sz="11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//Turn the LED on (HIGH voltage)</a:t>
            </a:r>
            <a:endParaRPr sz="11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digitalWrite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LED_BUILTIN, HIGH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delay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mDelay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11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//Wait for 200 milis</a:t>
            </a:r>
            <a:endParaRPr sz="11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//Turn the LED off with voltage LOW</a:t>
            </a:r>
            <a:endParaRPr sz="11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digitalWrite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LED_BUILTIN, LOW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delay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mDelay</a:t>
            </a: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1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11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//Wait for 200 milis</a:t>
            </a:r>
            <a:endParaRPr sz="11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67" name="Google Shape;46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850" y="1202850"/>
            <a:ext cx="3674550" cy="1267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8" name="Google Shape;468;p61"/>
          <p:cNvCxnSpPr/>
          <p:nvPr/>
        </p:nvCxnSpPr>
        <p:spPr>
          <a:xfrm rot="10800000">
            <a:off x="747567" y="2456800"/>
            <a:ext cx="122700" cy="401700"/>
          </a:xfrm>
          <a:prstGeom prst="straightConnector1">
            <a:avLst/>
          </a:prstGeom>
          <a:noFill/>
          <a:ln cap="flat" cmpd="sng" w="38100">
            <a:solidFill>
              <a:srgbClr val="434F5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9" name="Google Shape;469;p61"/>
          <p:cNvCxnSpPr/>
          <p:nvPr/>
        </p:nvCxnSpPr>
        <p:spPr>
          <a:xfrm rot="10800000">
            <a:off x="1279296" y="2460177"/>
            <a:ext cx="122700" cy="401700"/>
          </a:xfrm>
          <a:prstGeom prst="straightConnector1">
            <a:avLst/>
          </a:prstGeom>
          <a:noFill/>
          <a:ln cap="flat" cmpd="sng" w="38100">
            <a:solidFill>
              <a:srgbClr val="434F5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0" name="Google Shape;470;p61"/>
          <p:cNvCxnSpPr/>
          <p:nvPr/>
        </p:nvCxnSpPr>
        <p:spPr>
          <a:xfrm rot="10800000">
            <a:off x="3328446" y="2456801"/>
            <a:ext cx="122700" cy="401700"/>
          </a:xfrm>
          <a:prstGeom prst="straightConnector1">
            <a:avLst/>
          </a:prstGeom>
          <a:noFill/>
          <a:ln cap="flat" cmpd="sng" w="38100">
            <a:solidFill>
              <a:srgbClr val="434F5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1" name="Google Shape;471;p61"/>
          <p:cNvSpPr txBox="1"/>
          <p:nvPr/>
        </p:nvSpPr>
        <p:spPr>
          <a:xfrm>
            <a:off x="46364" y="2813871"/>
            <a:ext cx="214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Compile &amp; Upload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472" name="Google Shape;472;p61"/>
          <p:cNvSpPr txBox="1"/>
          <p:nvPr/>
        </p:nvSpPr>
        <p:spPr>
          <a:xfrm>
            <a:off x="2485400" y="2785243"/>
            <a:ext cx="200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Select board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473" name="Google Shape;47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175" y="4148288"/>
            <a:ext cx="4435025" cy="84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1"/>
          <p:cNvSpPr txBox="1"/>
          <p:nvPr/>
        </p:nvSpPr>
        <p:spPr>
          <a:xfrm>
            <a:off x="112650" y="3464417"/>
            <a:ext cx="45861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Most likely need to change to the old bootloader: Tools-&gt;Processor-&gt;Atmega328(Old Bootloader)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00" y="396963"/>
            <a:ext cx="4013200" cy="4349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96975"/>
            <a:ext cx="4229100" cy="40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>
            <p:ph type="title"/>
          </p:nvPr>
        </p:nvSpPr>
        <p:spPr>
          <a:xfrm>
            <a:off x="468550" y="94400"/>
            <a:ext cx="2859900" cy="59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LED Output</a:t>
            </a:r>
            <a:endParaRPr sz="4000"/>
          </a:p>
        </p:txBody>
      </p:sp>
      <p:sp>
        <p:nvSpPr>
          <p:cNvPr id="486" name="Google Shape;486;p6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3"/>
          <p:cNvSpPr txBox="1"/>
          <p:nvPr/>
        </p:nvSpPr>
        <p:spPr>
          <a:xfrm>
            <a:off x="4991975" y="408950"/>
            <a:ext cx="3806100" cy="453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mDelay = 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ledPin = 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//Setup function runs once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//Initialize output pin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pinMode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ledPin, OUTPUT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//Loop function runs over and over        after setup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//Turn the LED on (HIGH voltage)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digitalWrite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ledPin, HIGH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//Wait for set delay time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delay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mDelay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//Turn the LED off with voltage LOW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digitalWrite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ledPin, LOW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//Wait for set delay time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delay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mDelay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979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88" name="Google Shape;48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2" y="783450"/>
            <a:ext cx="3201750" cy="11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075" y="2016225"/>
            <a:ext cx="4230936" cy="292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4"/>
          <p:cNvSpPr txBox="1"/>
          <p:nvPr>
            <p:ph type="title"/>
          </p:nvPr>
        </p:nvSpPr>
        <p:spPr>
          <a:xfrm>
            <a:off x="468550" y="94400"/>
            <a:ext cx="2998500" cy="59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Button In</a:t>
            </a:r>
            <a:r>
              <a:rPr lang="en" sz="4000"/>
              <a:t>put</a:t>
            </a:r>
            <a:endParaRPr sz="4000"/>
          </a:p>
        </p:txBody>
      </p:sp>
      <p:sp>
        <p:nvSpPr>
          <p:cNvPr id="495" name="Google Shape;495;p64"/>
          <p:cNvSpPr txBox="1"/>
          <p:nvPr>
            <p:ph idx="12" type="sldNum"/>
          </p:nvPr>
        </p:nvSpPr>
        <p:spPr>
          <a:xfrm>
            <a:off x="8348348" y="4764025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64"/>
          <p:cNvSpPr txBox="1"/>
          <p:nvPr/>
        </p:nvSpPr>
        <p:spPr>
          <a:xfrm>
            <a:off x="4991975" y="277500"/>
            <a:ext cx="3806100" cy="466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//Definitions are similar to variables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LEDPin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050">
              <a:solidFill>
                <a:srgbClr val="005C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btnPin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050">
              <a:solidFill>
                <a:srgbClr val="005C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//Initialize output pin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pinMode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LEDPin, OUTPUT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pinMode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btnPin, INPUT_PULLUP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//Track on/off, start off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LEDState = HIGH;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delay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//Check button every fith sec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buttonState =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digitalRead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btnPin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//Statement executes if condition is true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buttonState == LOW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//Switch LEDState from HIGH to LOW and vv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LEDState = ~LEDState;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digitalWrite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LEDPin, LEDState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979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97" name="Google Shape;49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0" y="2288076"/>
            <a:ext cx="3991000" cy="2653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0" y="831475"/>
            <a:ext cx="2361989" cy="137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64"/>
          <p:cNvPicPr preferRelativeResize="0"/>
          <p:nvPr/>
        </p:nvPicPr>
        <p:blipFill rotWithShape="1">
          <a:blip r:embed="rId5">
            <a:alphaModFix/>
          </a:blip>
          <a:srcRect b="0" l="24798" r="7" t="0"/>
          <a:stretch/>
        </p:blipFill>
        <p:spPr>
          <a:xfrm>
            <a:off x="2768025" y="831476"/>
            <a:ext cx="1910356" cy="13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5"/>
          <p:cNvSpPr txBox="1"/>
          <p:nvPr>
            <p:ph type="title"/>
          </p:nvPr>
        </p:nvSpPr>
        <p:spPr>
          <a:xfrm>
            <a:off x="468550" y="205325"/>
            <a:ext cx="3383700" cy="479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Button &amp; Buzzer</a:t>
            </a:r>
            <a:endParaRPr sz="3400"/>
          </a:p>
        </p:txBody>
      </p:sp>
      <p:sp>
        <p:nvSpPr>
          <p:cNvPr id="505" name="Google Shape;505;p65"/>
          <p:cNvSpPr txBox="1"/>
          <p:nvPr>
            <p:ph idx="12" type="sldNum"/>
          </p:nvPr>
        </p:nvSpPr>
        <p:spPr>
          <a:xfrm>
            <a:off x="8348348" y="4764025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65"/>
          <p:cNvSpPr txBox="1"/>
          <p:nvPr/>
        </p:nvSpPr>
        <p:spPr>
          <a:xfrm>
            <a:off x="4991975" y="277500"/>
            <a:ext cx="3806100" cy="466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//Pin definitions</a:t>
            </a:r>
            <a:endParaRPr sz="1050">
              <a:solidFill>
                <a:srgbClr val="728E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btnPin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050">
              <a:solidFill>
                <a:srgbClr val="005C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buzzerPin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050">
              <a:solidFill>
                <a:srgbClr val="005C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//Setup function runs once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//Initialize pins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pinMode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buzzerPin, OUTPUT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pinMode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btnPin, INPUT_PULLUP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//Loop function runs over and over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delay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digitalRead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btnPin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LOW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//Make tone at 440Hz, when pressed</a:t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tone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buzzerPin, 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440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979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07" name="Google Shape;507;p65"/>
          <p:cNvPicPr preferRelativeResize="0"/>
          <p:nvPr/>
        </p:nvPicPr>
        <p:blipFill rotWithShape="1">
          <a:blip r:embed="rId3">
            <a:alphaModFix/>
          </a:blip>
          <a:srcRect b="22027" l="0" r="0" t="0"/>
          <a:stretch/>
        </p:blipFill>
        <p:spPr>
          <a:xfrm>
            <a:off x="351575" y="2571750"/>
            <a:ext cx="3916385" cy="23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25" y="1006475"/>
            <a:ext cx="2228850" cy="141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6"/>
          <p:cNvSpPr txBox="1"/>
          <p:nvPr>
            <p:ph type="title"/>
          </p:nvPr>
        </p:nvSpPr>
        <p:spPr>
          <a:xfrm>
            <a:off x="468550" y="205325"/>
            <a:ext cx="3383700" cy="479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Keyboard</a:t>
            </a:r>
            <a:endParaRPr sz="3400"/>
          </a:p>
        </p:txBody>
      </p:sp>
      <p:sp>
        <p:nvSpPr>
          <p:cNvPr id="514" name="Google Shape;514;p66"/>
          <p:cNvSpPr txBox="1"/>
          <p:nvPr>
            <p:ph idx="12" type="sldNum"/>
          </p:nvPr>
        </p:nvSpPr>
        <p:spPr>
          <a:xfrm>
            <a:off x="8348348" y="4764025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5" name="Google Shape;515;p66"/>
          <p:cNvSpPr txBox="1"/>
          <p:nvPr/>
        </p:nvSpPr>
        <p:spPr>
          <a:xfrm>
            <a:off x="4991975" y="277500"/>
            <a:ext cx="3806100" cy="466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"pitches.h"</a:t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Notes to play from the "pitches" library</a:t>
            </a:r>
            <a:endParaRPr sz="8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notes[] = </a:t>
            </a:r>
            <a:r>
              <a:rPr lang="en" sz="5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5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NOTE_C4, NOTE_D4, NOTE_E4, NOTE_F4 </a:t>
            </a:r>
            <a:r>
              <a:rPr lang="en" sz="5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5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5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buttonPins[] =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6, 7, 8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buttonCount = </a:t>
            </a:r>
            <a:r>
              <a:rPr lang="en" sz="8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speakerPin = </a:t>
            </a:r>
            <a:r>
              <a:rPr lang="en" sz="8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setup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//Using a for loop to set all the pins</a:t>
            </a:r>
            <a:endParaRPr sz="8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" sz="8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i &lt; buttonCount; i++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pinMode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buttonPins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[i], INPUT_PULLUP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buttonPressed = </a:t>
            </a:r>
            <a:r>
              <a:rPr lang="en" sz="8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00979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" sz="8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i &lt; buttonCount; i++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digitalRead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buttonPins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[i]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LOW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8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tone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speakerPin, </a:t>
            </a:r>
            <a:r>
              <a:rPr lang="en" sz="8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notes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[i]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buttonPressed = </a:t>
            </a:r>
            <a:r>
              <a:rPr lang="en" sz="850">
                <a:solidFill>
                  <a:srgbClr val="005C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8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850">
                <a:solidFill>
                  <a:srgbClr val="95A5A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// Only play one tone at a time</a:t>
            </a:r>
            <a:endParaRPr sz="8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50">
                <a:solidFill>
                  <a:srgbClr val="728E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!buttonPressed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50">
                <a:solidFill>
                  <a:srgbClr val="D354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noTone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speakerPin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E5B6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434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434F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979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4E5B6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95A5A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16" name="Google Shape;51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50" y="1155025"/>
            <a:ext cx="4687174" cy="3786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7"/>
          <p:cNvSpPr txBox="1"/>
          <p:nvPr>
            <p:ph type="title"/>
          </p:nvPr>
        </p:nvSpPr>
        <p:spPr>
          <a:xfrm>
            <a:off x="468550" y="205325"/>
            <a:ext cx="3383700" cy="479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Memory Game</a:t>
            </a:r>
            <a:endParaRPr sz="3400"/>
          </a:p>
        </p:txBody>
      </p:sp>
      <p:sp>
        <p:nvSpPr>
          <p:cNvPr id="522" name="Google Shape;522;p67"/>
          <p:cNvSpPr txBox="1"/>
          <p:nvPr>
            <p:ph idx="12" type="sldNum"/>
          </p:nvPr>
        </p:nvSpPr>
        <p:spPr>
          <a:xfrm>
            <a:off x="8348348" y="4764025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67"/>
          <p:cNvSpPr txBox="1"/>
          <p:nvPr/>
        </p:nvSpPr>
        <p:spPr>
          <a:xfrm>
            <a:off x="5207000" y="505975"/>
            <a:ext cx="3597900" cy="129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Go to this github: 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https://github.com/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TrentChip38/ArduinoActivities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download the zip folder or “git clone” the repo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Then open the final project folder to use the code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24" name="Google Shape;524;p67"/>
          <p:cNvPicPr preferRelativeResize="0"/>
          <p:nvPr/>
        </p:nvPicPr>
        <p:blipFill rotWithShape="1">
          <a:blip r:embed="rId4">
            <a:alphaModFix/>
          </a:blip>
          <a:srcRect b="0" l="56827" r="0" t="0"/>
          <a:stretch/>
        </p:blipFill>
        <p:spPr>
          <a:xfrm>
            <a:off x="5207000" y="2489201"/>
            <a:ext cx="3597899" cy="24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67"/>
          <p:cNvSpPr/>
          <p:nvPr/>
        </p:nvSpPr>
        <p:spPr>
          <a:xfrm>
            <a:off x="7738567" y="2550583"/>
            <a:ext cx="1087500" cy="479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6" name="Google Shape;526;p67"/>
          <p:cNvSpPr/>
          <p:nvPr/>
        </p:nvSpPr>
        <p:spPr>
          <a:xfrm>
            <a:off x="8276175" y="4222750"/>
            <a:ext cx="463200" cy="335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527" name="Google Shape;527;p67"/>
          <p:cNvCxnSpPr/>
          <p:nvPr/>
        </p:nvCxnSpPr>
        <p:spPr>
          <a:xfrm>
            <a:off x="7323375" y="2631450"/>
            <a:ext cx="476400" cy="21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p67"/>
          <p:cNvCxnSpPr/>
          <p:nvPr/>
        </p:nvCxnSpPr>
        <p:spPr>
          <a:xfrm>
            <a:off x="7799775" y="4222750"/>
            <a:ext cx="476400" cy="21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29" name="Google Shape;52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802050"/>
            <a:ext cx="4830878" cy="415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8"/>
          <p:cNvSpPr txBox="1"/>
          <p:nvPr>
            <p:ph type="title"/>
          </p:nvPr>
        </p:nvSpPr>
        <p:spPr>
          <a:xfrm>
            <a:off x="468550" y="205325"/>
            <a:ext cx="3383700" cy="479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Memory Game</a:t>
            </a:r>
            <a:endParaRPr sz="3400"/>
          </a:p>
        </p:txBody>
      </p:sp>
      <p:pic>
        <p:nvPicPr>
          <p:cNvPr id="535" name="Google Shape;535;p68" title="2a19605e-5d3f-4ac8-8f56-7f8b79849524.jpg"/>
          <p:cNvPicPr preferRelativeResize="0"/>
          <p:nvPr/>
        </p:nvPicPr>
        <p:blipFill rotWithShape="1">
          <a:blip r:embed="rId3">
            <a:alphaModFix/>
          </a:blip>
          <a:srcRect b="14626" l="5705" r="13707" t="7156"/>
          <a:stretch/>
        </p:blipFill>
        <p:spPr>
          <a:xfrm>
            <a:off x="277500" y="1949450"/>
            <a:ext cx="3998223" cy="291057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68"/>
          <p:cNvSpPr txBox="1"/>
          <p:nvPr/>
        </p:nvSpPr>
        <p:spPr>
          <a:xfrm>
            <a:off x="4529675" y="806450"/>
            <a:ext cx="43368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Put in the buzzer and buttons first.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lphaLcPeriod"/>
            </a:pPr>
            <a:r>
              <a:rPr lang="en" sz="1600">
                <a:solidFill>
                  <a:schemeClr val="lt1"/>
                </a:solidFill>
              </a:rPr>
              <a:t>Buzzer positive to D3 and ground to GND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lphaLcPeriod"/>
            </a:pPr>
            <a:r>
              <a:rPr lang="en" sz="1600">
                <a:solidFill>
                  <a:schemeClr val="lt1"/>
                </a:solidFill>
              </a:rPr>
              <a:t>Buttons across the bridge however you can fit them.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Use the bottom ground rail for negative to the buttons.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Then plug in 8 pins from D12-D5. Half are LEDs and other half are buttons.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LED above each button with the long positive end connected in between the button legs and gnd to the button ground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Program it and press the right button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1" name="Google Shape;541;p69"/>
          <p:cNvCxnSpPr/>
          <p:nvPr/>
        </p:nvCxnSpPr>
        <p:spPr>
          <a:xfrm>
            <a:off x="371000" y="218222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2" name="Google Shape;542;p69"/>
          <p:cNvCxnSpPr/>
          <p:nvPr/>
        </p:nvCxnSpPr>
        <p:spPr>
          <a:xfrm>
            <a:off x="1729075" y="38892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3" name="Google Shape;543;p69"/>
          <p:cNvCxnSpPr/>
          <p:nvPr/>
        </p:nvCxnSpPr>
        <p:spPr>
          <a:xfrm>
            <a:off x="3410050" y="22491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4" name="Google Shape;544;p69"/>
          <p:cNvCxnSpPr/>
          <p:nvPr/>
        </p:nvCxnSpPr>
        <p:spPr>
          <a:xfrm>
            <a:off x="4194263" y="40035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5" name="Google Shape;545;p69"/>
          <p:cNvCxnSpPr/>
          <p:nvPr/>
        </p:nvCxnSpPr>
        <p:spPr>
          <a:xfrm>
            <a:off x="6260000" y="32644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6" name="Google Shape;546;p69"/>
          <p:cNvCxnSpPr/>
          <p:nvPr/>
        </p:nvCxnSpPr>
        <p:spPr>
          <a:xfrm>
            <a:off x="7710800" y="32644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47" name="Google Shape;547;p69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Parts we are using</a:t>
            </a:r>
            <a:endParaRPr/>
          </a:p>
        </p:txBody>
      </p:sp>
      <p:sp>
        <p:nvSpPr>
          <p:cNvPr id="548" name="Google Shape;548;p69"/>
          <p:cNvSpPr txBox="1"/>
          <p:nvPr>
            <p:ph idx="16" type="subTitle"/>
          </p:nvPr>
        </p:nvSpPr>
        <p:spPr>
          <a:xfrm>
            <a:off x="284850" y="272855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Arduino Nano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0" lang="en" sz="800"/>
              <a:t>Microcontroller</a:t>
            </a:r>
            <a:endParaRPr sz="800"/>
          </a:p>
        </p:txBody>
      </p:sp>
      <p:sp>
        <p:nvSpPr>
          <p:cNvPr id="549" name="Google Shape;549;p69"/>
          <p:cNvSpPr txBox="1"/>
          <p:nvPr>
            <p:ph idx="17" type="subTitle"/>
          </p:nvPr>
        </p:nvSpPr>
        <p:spPr>
          <a:xfrm>
            <a:off x="1642976" y="4435600"/>
            <a:ext cx="1402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Half-size Breadboard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/>
          </a:p>
        </p:txBody>
      </p:sp>
      <p:sp>
        <p:nvSpPr>
          <p:cNvPr id="550" name="Google Shape;550;p69"/>
          <p:cNvSpPr txBox="1"/>
          <p:nvPr>
            <p:ph idx="18" type="subTitle"/>
          </p:nvPr>
        </p:nvSpPr>
        <p:spPr>
          <a:xfrm>
            <a:off x="3324000" y="2795500"/>
            <a:ext cx="1248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LEDs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/>
          </a:p>
        </p:txBody>
      </p:sp>
      <p:sp>
        <p:nvSpPr>
          <p:cNvPr id="551" name="Google Shape;551;p69"/>
          <p:cNvSpPr txBox="1"/>
          <p:nvPr>
            <p:ph idx="19" type="subTitle"/>
          </p:nvPr>
        </p:nvSpPr>
        <p:spPr>
          <a:xfrm>
            <a:off x="4108255" y="45499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Buttons</a:t>
            </a:r>
            <a:endParaRPr sz="800"/>
          </a:p>
        </p:txBody>
      </p:sp>
      <p:sp>
        <p:nvSpPr>
          <p:cNvPr id="552" name="Google Shape;552;p69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1k ohm resistors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/>
          </a:p>
        </p:txBody>
      </p:sp>
      <p:sp>
        <p:nvSpPr>
          <p:cNvPr id="553" name="Google Shape;553;p69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8+ cables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/>
          </a:p>
        </p:txBody>
      </p:sp>
      <p:pic>
        <p:nvPicPr>
          <p:cNvPr id="554" name="Google Shape;55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25" y="1187425"/>
            <a:ext cx="2304191" cy="99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69"/>
          <p:cNvPicPr preferRelativeResize="0"/>
          <p:nvPr/>
        </p:nvPicPr>
        <p:blipFill rotWithShape="1">
          <a:blip r:embed="rId4">
            <a:alphaModFix/>
          </a:blip>
          <a:srcRect b="32132" l="11048" r="14396" t="23668"/>
          <a:stretch/>
        </p:blipFill>
        <p:spPr>
          <a:xfrm>
            <a:off x="1294250" y="2728550"/>
            <a:ext cx="1818103" cy="116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4600" y="1187425"/>
            <a:ext cx="1402800" cy="1169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7" name="Google Shape;557;p69"/>
          <p:cNvCxnSpPr/>
          <p:nvPr/>
        </p:nvCxnSpPr>
        <p:spPr>
          <a:xfrm>
            <a:off x="5442263" y="1041875"/>
            <a:ext cx="0" cy="3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58" name="Google Shape;558;p69"/>
          <p:cNvSpPr txBox="1"/>
          <p:nvPr>
            <p:ph idx="19" type="subTitle"/>
          </p:nvPr>
        </p:nvSpPr>
        <p:spPr>
          <a:xfrm>
            <a:off x="5356255" y="15882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Buzzer</a:t>
            </a:r>
            <a:endParaRPr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